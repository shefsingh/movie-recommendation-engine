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5" r:id="rId9"/>
    <p:sldId id="264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E47EA-A11F-4D38-8C9F-B4EA71DFCEA3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76472-1F55-4DE4-8D5E-36981211B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897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76472-1F55-4DE4-8D5E-36981211BE3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87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0DA8-F5C8-01EB-B87B-FE5356F4B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6477E-74C7-26E8-5927-7AA8B19EA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69A85-F6C3-C888-1703-FA9177626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99BAB-CBAA-7866-C3A6-A3EA349FB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03EA6-D97D-C2B8-91AA-49672A6C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50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B393-53A0-A48F-45DB-75975849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A712-A93E-5976-B219-3075C7EDF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4CA0A-5CCA-E063-5743-11D8CBD3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0726B-AAA9-A667-A33D-B79F00CE4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8D6FA-2CFD-2910-3B33-623C0ABB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60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289-8D0B-4077-D022-F34A4480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AC0D1-27AD-C452-09B5-107C7D22E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F4938-DCD4-EB23-1E81-F02639126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03D9A-7186-740C-F1C8-8905CA33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2F060-E8F2-A073-1DE0-49E6451E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487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6A469-A5F9-C4C1-50C9-6F71933B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75C59-C2AD-573A-BB15-A730BFBA4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E278C-2EC0-496E-D200-5466C5A6C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9B5C8-AEBD-D5E4-5B2B-3681DAB8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23088-9EA2-24A3-88CE-94D66F8D3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DB83F-2D34-95FC-3648-690897AF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52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C123-06F7-588C-8F3A-46366888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7146E-7070-A6C8-9F38-48173397D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C005E-1E61-87E4-F2FF-C3A369F3A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02B27-5361-1B55-A2A0-B840E7741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1BDD2-2093-E3AC-852C-9D1CDFA827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CAD22-594E-0AF3-229F-AC95059F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FE08E-0375-4A73-E25B-A2D3B92D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915A3-C27D-C493-28D9-E01EB3AA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6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8A8A-532C-FD1B-AB2F-CA691B0D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DB254-497F-D94B-9BA5-8DC3E21B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75B9C-D425-DEF0-DA5A-72B26CDD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ED1FC-33A0-244B-0363-E54A963C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45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7DB2A6-D608-1CAF-7D11-A34AB205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51F50-709E-C449-389C-A5A5E1C1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5175E-A019-D628-2997-2095ADF5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46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D4408-D396-F466-9874-A8A555168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5D86E-5D98-5268-CC60-C8BF2FFDE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E22A7-09EC-FC53-C477-ADA178DAB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19E19-DB18-5FEB-C8B2-861AB9A8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052CC-A466-0406-BCDD-9096AB83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ABC6F-4516-8B14-BD60-6116A907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04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FBCF-B761-AD18-02B5-B8638F8A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D889DB-2462-B3BD-CF5C-A9437BBAD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D710A-E94C-FBB4-B8DA-BC1324370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D6383-787E-CF6C-CCD9-4B8297BB8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FAC30-5DEA-68D3-5E11-9DD289F88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0D570-328F-5FA2-831E-0977A180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69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EC7A-13A3-22E4-8FCC-60AEC9B6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758B7-9675-C0A1-3996-AC7276D09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DDEA4-12DD-9D72-9749-5C5BEB48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416B-38EA-F4FE-CD59-0EC44B75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49054-3911-D1EB-B79C-9880EA0A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745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651243-E813-4A5C-A3DA-A4DAF7F228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8A86B-2722-FE43-3B1A-42B9BD999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C4C0D-C705-F411-4C20-AF8BF799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8CD0A-0B72-37BA-1223-8CE9BE054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23FA9-A029-7A54-3088-ECA7AD74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46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9214F7-0780-197D-5AB7-6177BFCA5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D9CC8-32DD-E7F5-5A6D-045C7E68F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71C9F-5251-3763-AC9D-C2F03C6F0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B3C9F-0914-4226-8E22-E7E5041C3DFF}" type="datetimeFigureOut">
              <a:rPr lang="en-IN" smtClean="0"/>
              <a:t>06-05-2024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8836-9B8E-D0EB-AF7F-5DD2D5EBE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77E07-EB96-1485-D26D-DDCB06D37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68385-F078-4250-8B8C-4727256B0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3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movie production system using a movie machine&#10;&#10;Description automatically generated">
            <a:extLst>
              <a:ext uri="{FF2B5EF4-FFF2-40B4-BE49-F238E27FC236}">
                <a16:creationId xmlns:a16="http://schemas.microsoft.com/office/drawing/2014/main" id="{7D1CD3AF-2A71-27E2-0805-2E9D7B2C1E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76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light bulb with text on it&#10;&#10;Description automatically generated">
            <a:extLst>
              <a:ext uri="{FF2B5EF4-FFF2-40B4-BE49-F238E27FC236}">
                <a16:creationId xmlns:a16="http://schemas.microsoft.com/office/drawing/2014/main" id="{1FE44C35-2FB1-0672-E325-1B04FE468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0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45719E1-B3C4-63F2-AAF6-3353CF62A9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" r="833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9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A76338-2C2C-4553-A643-32887722429E}"/>
              </a:ext>
            </a:extLst>
          </p:cNvPr>
          <p:cNvSpPr txBox="1"/>
          <p:nvPr/>
        </p:nvSpPr>
        <p:spPr>
          <a:xfrm>
            <a:off x="640080" y="329184"/>
            <a:ext cx="6894576" cy="1783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i="0" u="none" strike="noStrike" dirty="0">
                <a:effectLst/>
                <a:latin typeface="+mj-lt"/>
                <a:ea typeface="+mj-ea"/>
                <a:cs typeface="+mj-cs"/>
              </a:rPr>
              <a:t> Class 1 - MovieDataLoader</a:t>
            </a:r>
            <a:endParaRPr lang="en-US" sz="3800" b="0" dirty="0">
              <a:effectLst/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sz="3800" dirty="0">
                <a:latin typeface="+mj-lt"/>
                <a:ea typeface="+mj-ea"/>
                <a:cs typeface="+mj-cs"/>
              </a:rPr>
            </a:br>
            <a:endParaRPr lang="en-US" sz="3800" dirty="0">
              <a:latin typeface="+mj-lt"/>
              <a:ea typeface="+mj-ea"/>
              <a:cs typeface="+mj-cs"/>
            </a:endParaRPr>
          </a:p>
        </p:txBody>
      </p:sp>
      <p:sp>
        <p:nvSpPr>
          <p:cNvPr id="207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8F7D7-2840-EC4F-10D5-C8CEB561048D}"/>
              </a:ext>
            </a:extLst>
          </p:cNvPr>
          <p:cNvSpPr txBox="1"/>
          <p:nvPr/>
        </p:nvSpPr>
        <p:spPr>
          <a:xfrm>
            <a:off x="640080" y="2697480"/>
            <a:ext cx="6299262" cy="3419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dirty="0">
                <a:effectLst/>
              </a:rPr>
              <a:t>Purpose: </a:t>
            </a:r>
            <a:r>
              <a:rPr lang="en-US" sz="1500" b="0" i="0" u="none" strike="noStrike" dirty="0">
                <a:effectLst/>
              </a:rPr>
              <a:t>Manages the loading and merging of datasets to prepare a unified data structure.</a:t>
            </a: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0" dirty="0">
              <a:effectLst/>
            </a:endParaRP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1" u="none" strike="noStrike" dirty="0">
                <a:effectLst/>
              </a:rPr>
              <a:t>Key Methods:</a:t>
            </a:r>
            <a:endParaRPr lang="en-US" sz="1500" b="0" i="1" dirty="0">
              <a:effectLst/>
            </a:endParaRPr>
          </a:p>
          <a:p>
            <a:pPr marL="28575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dirty="0">
                <a:effectLst/>
              </a:rPr>
              <a:t>__init__:</a:t>
            </a:r>
            <a:r>
              <a:rPr lang="en-US" sz="1500" b="0" i="0" u="none" strike="noStrike" dirty="0">
                <a:effectLst/>
              </a:rPr>
              <a:t> Initializes the loader with paths to datasets, loads them using pandas, and calls merge_datasets.</a:t>
            </a:r>
            <a:endParaRPr lang="en-US" sz="1500" b="0" dirty="0">
              <a:effectLst/>
            </a:endParaRPr>
          </a:p>
          <a:p>
            <a:pPr marL="28575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dirty="0">
                <a:effectLst/>
              </a:rPr>
              <a:t>merge_datasets:</a:t>
            </a:r>
            <a:r>
              <a:rPr lang="en-US" sz="1500" b="0" i="0" u="none" strike="noStrike" dirty="0">
                <a:effectLst/>
              </a:rPr>
              <a:t> Combines movies and credits data on the 'title' to enrich movie information with cast and crew details.</a:t>
            </a:r>
            <a:endParaRPr lang="en-US" sz="1500" b="0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</a:rPr>
              <a:t>Output: Here we can see the columns of credits and movies have merged together:</a:t>
            </a:r>
            <a:br>
              <a:rPr lang="en-US" sz="1500" dirty="0"/>
            </a:br>
            <a:br>
              <a:rPr lang="en-US" sz="1500" dirty="0"/>
            </a:br>
            <a:endParaRPr lang="en-US" sz="1500" dirty="0"/>
          </a:p>
        </p:txBody>
      </p:sp>
      <p:pic>
        <p:nvPicPr>
          <p:cNvPr id="2054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4E321AB-BCAF-0231-4C08-6F526BA12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51247" y="1196162"/>
            <a:ext cx="4926809" cy="280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0DA1CC90-F46E-9DEF-05F7-0DD15E89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79820" y="4546833"/>
            <a:ext cx="4479948" cy="111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59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7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A76338-2C2C-4553-A643-32887722429E}"/>
              </a:ext>
            </a:extLst>
          </p:cNvPr>
          <p:cNvSpPr txBox="1"/>
          <p:nvPr/>
        </p:nvSpPr>
        <p:spPr>
          <a:xfrm>
            <a:off x="460695" y="315476"/>
            <a:ext cx="5252208" cy="132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 Class </a:t>
            </a: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2- MovieDataProcessor</a:t>
            </a:r>
            <a:endParaRPr lang="en-US" sz="4500" b="1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8F7D7-2840-EC4F-10D5-C8CEB561048D}"/>
              </a:ext>
            </a:extLst>
          </p:cNvPr>
          <p:cNvSpPr txBox="1"/>
          <p:nvPr/>
        </p:nvSpPr>
        <p:spPr>
          <a:xfrm>
            <a:off x="590290" y="1215956"/>
            <a:ext cx="4964204" cy="288911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effectLst/>
              </a:rPr>
              <a:t>Purpose: </a:t>
            </a:r>
            <a:r>
              <a:rPr lang="en-US" sz="1400" i="0" u="none" strike="noStrike" dirty="0">
                <a:effectLst/>
              </a:rPr>
              <a:t>Discuss how this class processes the data to prepare it for recommendation.</a:t>
            </a:r>
            <a:endParaRPr lang="en-US" sz="1400" b="0" dirty="0">
              <a:effectLst/>
            </a:endParaRP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1" u="none" strike="noStrike" dirty="0">
                <a:effectLst/>
              </a:rPr>
              <a:t>Key Methods:</a:t>
            </a:r>
            <a:endParaRPr lang="en-US" sz="1400" b="0" i="1" dirty="0">
              <a:effectLst/>
            </a:endParaRPr>
          </a:p>
          <a:p>
            <a:pPr marL="28575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process_data</a:t>
            </a:r>
            <a:r>
              <a:rPr lang="en-US" sz="1400" dirty="0"/>
              <a:t>: Filters and cleans the dataset.</a:t>
            </a:r>
          </a:p>
          <a:p>
            <a:pPr marL="28575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convert, convert_cast, fetch_director</a:t>
            </a:r>
            <a:r>
              <a:rPr lang="en-US" sz="1400" dirty="0"/>
              <a:t>: Transform JSON-like strings into clean lists.</a:t>
            </a:r>
          </a:p>
          <a:p>
            <a:pPr marL="5715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effectLst/>
              </a:rPr>
              <a:t>Output</a:t>
            </a:r>
            <a:r>
              <a:rPr lang="en-US" sz="1400" b="0" i="0" u="none" strike="noStrike" dirty="0">
                <a:effectLst/>
              </a:rPr>
              <a:t>: This diagram shows only the titles important for recommendation which we filtered earlier. </a:t>
            </a:r>
          </a:p>
          <a:p>
            <a:pPr indent="-228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The first diagram shows title with all numbers and extra details, second image shows filtered and clean data 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endParaRPr lang="en-US" sz="1400" dirty="0"/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9A1F2FDF-0C1B-4059-0E7A-615BBE95D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6819" y="3810744"/>
            <a:ext cx="5641567" cy="257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FEFB6CC-3181-EFA5-C7ED-F5F40664E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28462" y="2864317"/>
            <a:ext cx="4237735" cy="66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EBFE5D0-FE91-A5EB-6ACE-788C8A84B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39581" y="775067"/>
            <a:ext cx="2152419" cy="146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834F14D-27AA-645B-CBFC-B1D9937D7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28462" y="632298"/>
            <a:ext cx="4237735" cy="225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B3B747BB-B3A9-C6BC-E9D7-3BD9DCC15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652" y="3731602"/>
            <a:ext cx="5749805" cy="257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4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48" name="Rectangle 4147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0046D-D53F-8D0F-0F1F-1472A1A6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25" y="55944"/>
            <a:ext cx="5280784" cy="1690798"/>
          </a:xfrm>
        </p:spPr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800" b="1" dirty="0"/>
              <a:t>Class 3: </a:t>
            </a:r>
            <a:r>
              <a:rPr lang="en-IN" sz="3800" b="1" i="0" u="none" strike="noStrike" dirty="0">
                <a:effectLst/>
              </a:rPr>
              <a:t>MovieRecommender</a:t>
            </a:r>
            <a:br>
              <a:rPr lang="en-IN" sz="2800" b="0" dirty="0">
                <a:effectLst/>
              </a:rPr>
            </a:b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9C7FF-5FE4-D217-03E9-A0D90FB3E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037" y="850028"/>
            <a:ext cx="6072637" cy="3108171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1100" b="1" i="0" u="none" strike="noStrike" dirty="0">
                <a:effectLst/>
                <a:latin typeface="Arial" panose="020B0604020202020204" pitchFamily="34" charset="0"/>
              </a:rPr>
              <a:t>Purpose</a:t>
            </a:r>
            <a:r>
              <a:rPr lang="en-US" sz="1100" b="0" i="0" u="none" strike="noStrike" dirty="0">
                <a:effectLst/>
                <a:latin typeface="Arial" panose="020B0604020202020204" pitchFamily="34" charset="0"/>
              </a:rPr>
              <a:t>: Implements the recommendation logic using machine learning techniques.</a:t>
            </a: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US" sz="1100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100" b="0" i="1" u="none" strike="noStrike" dirty="0">
                <a:effectLst/>
                <a:latin typeface="Arial" panose="020B0604020202020204" pitchFamily="34" charset="0"/>
              </a:rPr>
              <a:t>  Key Methods:</a:t>
            </a: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US" sz="1100" b="0" i="1" dirty="0">
              <a:effectLst/>
            </a:endParaRPr>
          </a:p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1100" b="1" i="0" u="none" strike="noStrike" dirty="0">
                <a:effectLst/>
                <a:latin typeface="Arial" panose="020B0604020202020204" pitchFamily="34" charset="0"/>
              </a:rPr>
              <a:t>create_similarity_matrix</a:t>
            </a:r>
            <a:r>
              <a:rPr lang="en-US" sz="1100" b="0" i="0" u="none" strike="noStrike" dirty="0">
                <a:effectLst/>
                <a:latin typeface="Arial" panose="020B0604020202020204" pitchFamily="34" charset="0"/>
              </a:rPr>
              <a:t>: Creates a matrix to measure content similarity between movies using vectorized tags.</a:t>
            </a:r>
          </a:p>
          <a:p>
            <a:pPr marL="0" indent="0" rtl="0">
              <a:spcBef>
                <a:spcPts val="0"/>
              </a:spcBef>
              <a:spcAft>
                <a:spcPts val="600"/>
              </a:spcAft>
              <a:buNone/>
            </a:pPr>
            <a:endParaRPr lang="en-US" sz="11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1100" b="1" i="0" u="none" strike="noStrike" dirty="0">
                <a:effectLst/>
                <a:latin typeface="Arial" panose="020B0604020202020204" pitchFamily="34" charset="0"/>
              </a:rPr>
              <a:t>preprocess_text_data: </a:t>
            </a:r>
            <a:r>
              <a:rPr lang="en-US" sz="1100" b="0" i="0" u="none" strike="noStrike" dirty="0">
                <a:effectLst/>
                <a:latin typeface="Arial" panose="020B0604020202020204" pitchFamily="34" charset="0"/>
              </a:rPr>
              <a:t>Processes textual data by combining columns, applying stemming, and vectorizing the content.</a:t>
            </a:r>
          </a:p>
          <a:p>
            <a:pPr rtl="0">
              <a:spcBef>
                <a:spcPts val="0"/>
              </a:spcBef>
              <a:spcAft>
                <a:spcPts val="600"/>
              </a:spcAft>
            </a:pPr>
            <a:endParaRPr lang="en-US" sz="1100" dirty="0"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1100" b="1" dirty="0">
                <a:effectLst/>
                <a:latin typeface="Arial" panose="020B0604020202020204" pitchFamily="34" charset="0"/>
              </a:rPr>
              <a:t>Output: </a:t>
            </a:r>
          </a:p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1100" b="0" i="0" u="none" strike="noStrike" dirty="0">
                <a:effectLst/>
                <a:latin typeface="Arial" panose="020B0604020202020204" pitchFamily="34" charset="0"/>
              </a:rPr>
              <a:t>We remove any space between two values like Science Fiction and also  we can see the data is separated into different words separated by comma to pick up words for recommendation. </a:t>
            </a:r>
            <a:br>
              <a:rPr lang="en-US" sz="1100" dirty="0"/>
            </a:br>
            <a:endParaRPr lang="en-US" sz="1100" b="0" dirty="0">
              <a:effectLst/>
            </a:endParaRPr>
          </a:p>
        </p:txBody>
      </p:sp>
      <p:pic>
        <p:nvPicPr>
          <p:cNvPr id="4108" name="Picture 12">
            <a:extLst>
              <a:ext uri="{FF2B5EF4-FFF2-40B4-BE49-F238E27FC236}">
                <a16:creationId xmlns:a16="http://schemas.microsoft.com/office/drawing/2014/main" id="{68B1851D-B2C1-D220-3201-592EF9D02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853" y="113868"/>
            <a:ext cx="5360890" cy="238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4A542D3B-1C29-24FA-5B0B-DC5760F11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853" y="2520362"/>
            <a:ext cx="5308069" cy="183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>
            <a:extLst>
              <a:ext uri="{FF2B5EF4-FFF2-40B4-BE49-F238E27FC236}">
                <a16:creationId xmlns:a16="http://schemas.microsoft.com/office/drawing/2014/main" id="{AB7D658B-F9B7-96C8-837F-61A950900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033" y="4347866"/>
            <a:ext cx="5413710" cy="2248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8">
            <a:extLst>
              <a:ext uri="{FF2B5EF4-FFF2-40B4-BE49-F238E27FC236}">
                <a16:creationId xmlns:a16="http://schemas.microsoft.com/office/drawing/2014/main" id="{42EB5203-8F09-0ADD-87F6-4CA1FAC8C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37" y="4859427"/>
            <a:ext cx="4219611" cy="153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>
            <a:extLst>
              <a:ext uri="{FF2B5EF4-FFF2-40B4-BE49-F238E27FC236}">
                <a16:creationId xmlns:a16="http://schemas.microsoft.com/office/drawing/2014/main" id="{2FDAA4E1-0661-7FFC-E1F7-C7BEE6E79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55" y="4138141"/>
            <a:ext cx="4620664" cy="8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40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1849-BE49-EA32-0380-4028F0D4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253" y="569401"/>
            <a:ext cx="4925037" cy="1115736"/>
          </a:xfrm>
        </p:spPr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4200" b="1" i="0" u="none" strike="noStrike" dirty="0">
                <a:solidFill>
                  <a:srgbClr val="000000"/>
                </a:solidFill>
                <a:effectLst/>
              </a:rPr>
              <a:t>Recommending Movies</a:t>
            </a:r>
            <a:br>
              <a:rPr lang="en-IN" sz="4200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4361-917D-EECE-1846-EEE203429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032" y="973886"/>
            <a:ext cx="8104465" cy="972359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Functionality: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Uses cosine similarity to find movies most similar to a user-inputted title.</a:t>
            </a:r>
            <a:br>
              <a:rPr lang="en-US" dirty="0"/>
            </a:br>
            <a:endParaRPr lang="en-IN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C0C9A121-ACDA-598C-D3B7-44DEFB863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32" y="1535712"/>
            <a:ext cx="7097786" cy="154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E98FEC-739F-9BDA-110D-88DC4503C644}"/>
              </a:ext>
            </a:extLst>
          </p:cNvPr>
          <p:cNvSpPr txBox="1"/>
          <p:nvPr/>
        </p:nvSpPr>
        <p:spPr>
          <a:xfrm>
            <a:off x="645253" y="3132060"/>
            <a:ext cx="651055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Example:</a:t>
            </a:r>
            <a:endParaRPr lang="en-US" sz="12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Let's find movies similar  to 'Avatar'. The system will output the top 5 recommended movies based on content similarity."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Similarly, for a comedy movie eg. Rush Hour 3, we get:</a:t>
            </a:r>
            <a:endParaRPr lang="en-US" b="0" dirty="0">
              <a:effectLst/>
            </a:endParaRPr>
          </a:p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1AA98AFD-0EC5-C649-1057-B34E196F8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44" y="4328717"/>
            <a:ext cx="4657289" cy="177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66593B1-8780-DF06-8AE7-192E9CEA8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055" y="4265425"/>
            <a:ext cx="4809690" cy="183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0847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5810F-B92D-B0BB-5136-889312594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109" y="349826"/>
            <a:ext cx="10515600" cy="1325563"/>
          </a:xfrm>
        </p:spPr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4200" b="1" i="0" u="none" strike="noStrike" dirty="0">
                <a:solidFill>
                  <a:srgbClr val="000000"/>
                </a:solidFill>
                <a:effectLst/>
              </a:rPr>
              <a:t>Code Execution</a:t>
            </a: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D0437-50FC-6505-127E-E8EF2AFA8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743" y="1001949"/>
            <a:ext cx="10343606" cy="1507787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to Run the Code: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"To run this script, ensure you have Python and the required libraries installed. Run the script from a terminal or an IDE."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example: </a:t>
            </a:r>
            <a:br>
              <a:rPr lang="en-US" dirty="0"/>
            </a:br>
            <a:endParaRPr lang="en-IN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A170E3A9-AFE4-792A-C16D-215ECACD7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2008230"/>
            <a:ext cx="8003656" cy="39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C68293-6602-AC58-B9B2-6E9D6FDB26B0}"/>
              </a:ext>
            </a:extLst>
          </p:cNvPr>
          <p:cNvSpPr txBox="1"/>
          <p:nvPr/>
        </p:nvSpPr>
        <p:spPr>
          <a:xfrm>
            <a:off x="771016" y="2327512"/>
            <a:ext cx="81380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 Input: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"The script prompts the user to enter a movie title and then displays the top five recommendations.“ The movie titles are case sensitive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Batman Begins where th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e initial letters of the titles are capital. 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IN" dirty="0"/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1116D300-8B63-B746-9F02-49590A40F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63" y="3538745"/>
            <a:ext cx="8003656" cy="67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6EA3DACE-2E39-5E57-53D9-3C7CD3A3D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94" y="4348265"/>
            <a:ext cx="7973025" cy="1853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715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BDA5-19AF-8E8F-4777-AFA57FE2F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98" y="449614"/>
            <a:ext cx="8054130" cy="989901"/>
          </a:xfrm>
        </p:spPr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IN" b="0" dirty="0">
                <a:effectLst/>
              </a:rPr>
            </a:b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B11B54-13D0-3715-6D71-2F9F3E3E6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729078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41548690-029B-94EE-8331-7EF0E80C5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1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 descr="A person on a phone&#10;&#10;Description automatically generated">
            <a:extLst>
              <a:ext uri="{FF2B5EF4-FFF2-40B4-BE49-F238E27FC236}">
                <a16:creationId xmlns:a16="http://schemas.microsoft.com/office/drawing/2014/main" id="{F1E4267F-5678-631A-5A9D-94194EDE8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54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419</Words>
  <Application>Microsoft Office PowerPoint</Application>
  <PresentationFormat>Widescreen</PresentationFormat>
  <Paragraphs>45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3: MovieRecommender  </vt:lpstr>
      <vt:lpstr>Recommending Movies  </vt:lpstr>
      <vt:lpstr>Code Execution  </vt:lpstr>
      <vt:lpstr>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Shefali Singh</dc:creator>
  <cp:lastModifiedBy>Shefali Singh</cp:lastModifiedBy>
  <cp:revision>12</cp:revision>
  <dcterms:created xsi:type="dcterms:W3CDTF">2024-05-06T12:24:55Z</dcterms:created>
  <dcterms:modified xsi:type="dcterms:W3CDTF">2024-05-06T15:27:36Z</dcterms:modified>
</cp:coreProperties>
</file>